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>
                <a:solidFill>
                  <a:srgbClr val="ECE7D8"/>
                </a:solidFill>
                <a:latin typeface="Montserrat"/>
              </a:rPr>
              <a:t>THE 7 PROFIT FIRST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7295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0">
                <a:solidFill>
                  <a:srgbClr val="ECE7D8"/>
                </a:solidFill>
                <a:latin typeface="Montserrat"/>
              </a:rPr>
              <a:t>Held together by The Clarity Conversation — the thread through every tool</a:t>
            </a:r>
          </a:p>
        </p:txBody>
      </p:sp>
      <p:sp>
        <p:nvSpPr>
          <p:cNvPr id="5" name="Oval 4"/>
          <p:cNvSpPr/>
          <p:nvPr/>
        </p:nvSpPr>
        <p:spPr>
          <a:xfrm>
            <a:off x="1981504" y="2148839"/>
            <a:ext cx="8229600" cy="4023360"/>
          </a:xfrm>
          <a:prstGeom prst="ellipse">
            <a:avLst/>
          </a:prstGeom>
          <a:noFill/>
          <a:ln w="19050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6194895">
            <a:off x="7753633" y="2220042"/>
            <a:ext cx="256032" cy="256032"/>
          </a:xfrm>
          <a:prstGeom prst="triangl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9298436">
            <a:off x="9979922" y="3584863"/>
            <a:ext cx="256032" cy="256032"/>
          </a:xfrm>
          <a:prstGeom prst="triangl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4309384">
            <a:off x="9185368" y="5286765"/>
            <a:ext cx="256032" cy="256032"/>
          </a:xfrm>
          <a:prstGeom prst="triangl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6200000">
            <a:off x="5968288" y="6044184"/>
            <a:ext cx="256032" cy="256032"/>
          </a:xfrm>
          <a:prstGeom prst="triangl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8090616">
            <a:off x="2751208" y="5286765"/>
            <a:ext cx="256032" cy="256032"/>
          </a:xfrm>
          <a:prstGeom prst="triangl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1501564">
            <a:off x="1956655" y="3584863"/>
            <a:ext cx="256032" cy="256032"/>
          </a:xfrm>
          <a:prstGeom prst="triangl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4605105">
            <a:off x="4182943" y="2220042"/>
            <a:ext cx="256032" cy="256032"/>
          </a:xfrm>
          <a:prstGeom prst="triangl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67604" y="3131820"/>
            <a:ext cx="2057400" cy="2057400"/>
          </a:xfrm>
          <a:prstGeom prst="ellipse">
            <a:avLst/>
          </a:prstGeom>
          <a:solidFill>
            <a:srgbClr val="ECE7D8"/>
          </a:solidFill>
          <a:ln w="25400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1">
                <a:solidFill>
                  <a:srgbClr val="0F1F3A"/>
                </a:solidFill>
                <a:latin typeface="Montserrat"/>
              </a:rPr>
              <a:t>THE CLARITY</a:t>
            </a:r>
          </a:p>
          <a:p>
            <a:pPr algn="ctr"/>
            <a:r>
              <a:rPr sz="1500" b="1">
                <a:solidFill>
                  <a:srgbClr val="0F1F3A"/>
                </a:solidFill>
                <a:latin typeface="Montserrat"/>
              </a:rPr>
              <a:t>CONVERSATION</a:t>
            </a:r>
          </a:p>
          <a:p>
            <a:pPr algn="ctr"/>
            <a:r>
              <a:rPr sz="900" b="0">
                <a:solidFill>
                  <a:srgbClr val="0F1F3A"/>
                </a:solidFill>
                <a:latin typeface="Montserrat"/>
              </a:rPr>
              <a:t>the heart of every tool</a:t>
            </a:r>
          </a:p>
        </p:txBody>
      </p:sp>
      <p:sp>
        <p:nvSpPr>
          <p:cNvPr id="14" name="Oval 13"/>
          <p:cNvSpPr/>
          <p:nvPr/>
        </p:nvSpPr>
        <p:spPr>
          <a:xfrm>
            <a:off x="5319064" y="1371599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Clarity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Profit Assessment</a:t>
            </a:r>
          </a:p>
        </p:txBody>
      </p:sp>
      <p:sp>
        <p:nvSpPr>
          <p:cNvPr id="15" name="Oval 14"/>
          <p:cNvSpPr/>
          <p:nvPr/>
        </p:nvSpPr>
        <p:spPr>
          <a:xfrm>
            <a:off x="5867704" y="1142999"/>
            <a:ext cx="457200" cy="457200"/>
          </a:xfrm>
          <a:prstGeom prst="ellips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0F1F3A"/>
                </a:solidFill>
                <a:latin typeface="Montserrat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8536144" y="2129018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Efficiency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Expense Review</a:t>
            </a:r>
          </a:p>
        </p:txBody>
      </p:sp>
      <p:sp>
        <p:nvSpPr>
          <p:cNvPr id="17" name="Oval 16"/>
          <p:cNvSpPr/>
          <p:nvPr/>
        </p:nvSpPr>
        <p:spPr>
          <a:xfrm>
            <a:off x="9084784" y="1900418"/>
            <a:ext cx="457200" cy="457200"/>
          </a:xfrm>
          <a:prstGeom prst="ellips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0F1F3A"/>
                </a:solidFill>
                <a:latin typeface="Montserrat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9330698" y="3830920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Freedom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Debt Reduction</a:t>
            </a:r>
          </a:p>
        </p:txBody>
      </p:sp>
      <p:sp>
        <p:nvSpPr>
          <p:cNvPr id="19" name="Oval 18"/>
          <p:cNvSpPr/>
          <p:nvPr/>
        </p:nvSpPr>
        <p:spPr>
          <a:xfrm>
            <a:off x="9879338" y="3602320"/>
            <a:ext cx="457200" cy="457200"/>
          </a:xfrm>
          <a:prstGeom prst="ellips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0F1F3A"/>
                </a:solidFill>
                <a:latin typeface="Montserrat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7104409" y="5195741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Growth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Pricing Plan</a:t>
            </a:r>
          </a:p>
        </p:txBody>
      </p:sp>
      <p:sp>
        <p:nvSpPr>
          <p:cNvPr id="21" name="Oval 20"/>
          <p:cNvSpPr/>
          <p:nvPr/>
        </p:nvSpPr>
        <p:spPr>
          <a:xfrm>
            <a:off x="7653049" y="4967141"/>
            <a:ext cx="457200" cy="457200"/>
          </a:xfrm>
          <a:prstGeom prst="ellips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0F1F3A"/>
                </a:solidFill>
                <a:latin typeface="Montserrat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3533719" y="5195741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Balance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Personal Finances</a:t>
            </a:r>
          </a:p>
        </p:txBody>
      </p:sp>
      <p:sp>
        <p:nvSpPr>
          <p:cNvPr id="23" name="Oval 22"/>
          <p:cNvSpPr/>
          <p:nvPr/>
        </p:nvSpPr>
        <p:spPr>
          <a:xfrm>
            <a:off x="4082359" y="4967141"/>
            <a:ext cx="457200" cy="457200"/>
          </a:xfrm>
          <a:prstGeom prst="ellips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0F1F3A"/>
                </a:solidFill>
                <a:latin typeface="Montserrat"/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1307431" y="3830920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Insight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Metrics &amp; KPIs</a:t>
            </a:r>
          </a:p>
        </p:txBody>
      </p:sp>
      <p:sp>
        <p:nvSpPr>
          <p:cNvPr id="25" name="Oval 24"/>
          <p:cNvSpPr/>
          <p:nvPr/>
        </p:nvSpPr>
        <p:spPr>
          <a:xfrm>
            <a:off x="1856071" y="3602320"/>
            <a:ext cx="457200" cy="457200"/>
          </a:xfrm>
          <a:prstGeom prst="ellips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0F1F3A"/>
                </a:solidFill>
                <a:latin typeface="Montserrat"/>
              </a:rP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2101984" y="2129018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Momentum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Processes &amp; Improvements</a:t>
            </a:r>
          </a:p>
        </p:txBody>
      </p:sp>
      <p:sp>
        <p:nvSpPr>
          <p:cNvPr id="27" name="Oval 26"/>
          <p:cNvSpPr/>
          <p:nvPr/>
        </p:nvSpPr>
        <p:spPr>
          <a:xfrm>
            <a:off x="2650624" y="1900418"/>
            <a:ext cx="457200" cy="457200"/>
          </a:xfrm>
          <a:prstGeom prst="ellipse">
            <a:avLst/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0F1F3A"/>
                </a:solidFill>
                <a:latin typeface="Montserrat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