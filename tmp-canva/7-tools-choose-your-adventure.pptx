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ECE7D8"/>
                </a:solidFill>
                <a:latin typeface="Montserrat"/>
              </a:rPr>
              <a:t>THE 7 PROFIT FIRST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77295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0">
                <a:solidFill>
                  <a:srgbClr val="ECE7D8"/>
                </a:solidFill>
                <a:latin typeface="Montserrat"/>
              </a:rPr>
              <a:t>Choose your own adventure — start with the tool the client needs most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096304" y="2926079"/>
            <a:ext cx="0" cy="205741"/>
          </a:xfrm>
          <a:prstGeom prst="line">
            <a:avLst/>
          </a:prstGeom>
          <a:ln w="15875">
            <a:solidFill>
              <a:srgbClr val="ECE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7054738" y="3188586"/>
            <a:ext cx="1534497" cy="598263"/>
          </a:xfrm>
          <a:prstGeom prst="line">
            <a:avLst/>
          </a:prstGeom>
          <a:ln w="15875">
            <a:solidFill>
              <a:srgbClr val="ECE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18659" y="4274600"/>
            <a:ext cx="2216833" cy="247367"/>
          </a:xfrm>
          <a:prstGeom prst="line">
            <a:avLst/>
          </a:prstGeom>
          <a:ln w="15875">
            <a:solidFill>
              <a:srgbClr val="ECE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18202" y="4893382"/>
            <a:ext cx="518013" cy="525880"/>
          </a:xfrm>
          <a:prstGeom prst="line">
            <a:avLst/>
          </a:prstGeom>
          <a:ln w="15875">
            <a:solidFill>
              <a:srgbClr val="ECE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4856393" y="4893382"/>
            <a:ext cx="518013" cy="525880"/>
          </a:xfrm>
          <a:prstGeom prst="line">
            <a:avLst/>
          </a:prstGeom>
          <a:ln w="15875">
            <a:solidFill>
              <a:srgbClr val="ECE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857117" y="4274600"/>
            <a:ext cx="2216832" cy="247367"/>
          </a:xfrm>
          <a:prstGeom prst="line">
            <a:avLst/>
          </a:prstGeom>
          <a:ln w="15875">
            <a:solidFill>
              <a:srgbClr val="ECE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3603374" y="3188586"/>
            <a:ext cx="1534497" cy="598263"/>
          </a:xfrm>
          <a:prstGeom prst="line">
            <a:avLst/>
          </a:prstGeom>
          <a:ln w="15875">
            <a:solidFill>
              <a:srgbClr val="ECE7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067604" y="3131820"/>
            <a:ext cx="2057400" cy="2057400"/>
          </a:xfrm>
          <a:prstGeom prst="ellipse">
            <a:avLst/>
          </a:prstGeom>
          <a:solidFill>
            <a:srgbClr val="ECE7D8"/>
          </a:solidFill>
          <a:ln w="25400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500" b="1">
                <a:solidFill>
                  <a:srgbClr val="0F1F3A"/>
                </a:solidFill>
                <a:latin typeface="Montserrat"/>
              </a:rPr>
              <a:t>THE CLARITY</a:t>
            </a:r>
          </a:p>
          <a:p>
            <a:pPr algn="ctr"/>
            <a:r>
              <a:rPr sz="1500" b="1">
                <a:solidFill>
                  <a:srgbClr val="0F1F3A"/>
                </a:solidFill>
                <a:latin typeface="Montserrat"/>
              </a:rPr>
              <a:t>CONVERSATION</a:t>
            </a:r>
          </a:p>
          <a:p>
            <a:pPr algn="ctr"/>
            <a:r>
              <a:rPr sz="900" b="0">
                <a:solidFill>
                  <a:srgbClr val="0F1F3A"/>
                </a:solidFill>
                <a:latin typeface="Montserrat"/>
              </a:rPr>
              <a:t>shows you where to start</a:t>
            </a:r>
          </a:p>
        </p:txBody>
      </p:sp>
      <p:sp>
        <p:nvSpPr>
          <p:cNvPr id="13" name="Oval 12"/>
          <p:cNvSpPr/>
          <p:nvPr/>
        </p:nvSpPr>
        <p:spPr>
          <a:xfrm>
            <a:off x="5319064" y="1371599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Clarity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Profit Assessment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6264" y="1545335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89A0"/>
                </a:solidFill>
                <a:latin typeface="Montserrat"/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8536144" y="2129018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Efficiency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Expense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3344" y="2302754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89A0"/>
                </a:solidFill>
                <a:latin typeface="Montserrat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9330698" y="3830920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Freedom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Debt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7898" y="400465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89A0"/>
                </a:solidFill>
                <a:latin typeface="Montserrat"/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7104409" y="5195741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Growth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Pricing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1609" y="5369477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89A0"/>
                </a:solidFill>
                <a:latin typeface="Montserrat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533719" y="5195741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Balance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Personal Finances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0919" y="5369477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89A0"/>
                </a:solidFill>
                <a:latin typeface="Montserrat"/>
              </a:rPr>
              <a:t>5</a:t>
            </a:r>
          </a:p>
        </p:txBody>
      </p:sp>
      <p:sp>
        <p:nvSpPr>
          <p:cNvPr id="23" name="Oval 22"/>
          <p:cNvSpPr/>
          <p:nvPr/>
        </p:nvSpPr>
        <p:spPr>
          <a:xfrm>
            <a:off x="1307431" y="3830920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Insight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Metrics &amp; KPIs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64631" y="4004656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89A0"/>
                </a:solidFill>
                <a:latin typeface="Montserrat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101984" y="2129018"/>
            <a:ext cx="1554480" cy="1554480"/>
          </a:xfrm>
          <a:prstGeom prst="ellipse">
            <a:avLst/>
          </a:prstGeom>
          <a:solidFill>
            <a:srgbClr val="0F1F3A"/>
          </a:solidFill>
          <a:ln w="22225">
            <a:solidFill>
              <a:srgbClr val="ECE7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300" b="1">
                <a:solidFill>
                  <a:srgbClr val="ECE7D8"/>
                </a:solidFill>
                <a:latin typeface="Montserrat"/>
              </a:rPr>
              <a:t>The Momentum Tool</a:t>
            </a:r>
          </a:p>
          <a:p>
            <a:pPr algn="ctr"/>
            <a:r>
              <a:rPr sz="950" b="0">
                <a:solidFill>
                  <a:srgbClr val="ECE7D8"/>
                </a:solidFill>
                <a:latin typeface="Montserrat"/>
              </a:rPr>
              <a:t>Processes &amp; Improvements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9184" y="2302754"/>
            <a:ext cx="64008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89A0"/>
                </a:solidFill>
                <a:latin typeface="Montserrat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060704"/>
            <a:ext cx="1127729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0">
                <a:solidFill>
                  <a:srgbClr val="7C89A0"/>
                </a:solidFill>
                <a:latin typeface="Montserrat"/>
              </a:rPr>
              <a:t>No obvious pain point? The faint numbers are the default order to fall back 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